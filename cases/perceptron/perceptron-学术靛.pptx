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-2103120"/>
            <a:ext cx="5943600" cy="5943600"/>
          </a:xfrm>
          <a:prstGeom prst="ellipse">
            <a:avLst/>
          </a:prstGeom>
          <a:solidFill>
            <a:srgbClr val="3F51B5">
              <a:alpha val="22000"/>
            </a:srgbClr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2377440"/>
            <a:ext cx="4206240" cy="4206240"/>
          </a:xfrm>
          <a:prstGeom prst="ellipse">
            <a:avLst/>
          </a:prstGeom>
          <a:solidFill>
            <a:srgbClr val="7C4DFF">
              <a:alpha val="18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3F51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82296"/>
            <a:ext cx="9144000" cy="25603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896112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961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3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 · 经典议题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481328"/>
            <a:ext cx="7955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线性不可分的真相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676656" y="3310128"/>
            <a:ext cx="1920240" cy="64008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52958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从单层感知机为何解不了 XOR，到隐藏层如何改写空间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Minsky &amp; Papert (1969)  ·  神经网络的第一次寒冬与复兴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汇报脉络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00200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64008" cy="749808"/>
          </a:xfrm>
          <a:prstGeom prst="rect">
            <a:avLst/>
          </a:prstGeom>
          <a:solidFill>
            <a:srgbClr val="3F51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172821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5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99032" y="17190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99032" y="20025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1969 年的否定性结论与第一次寒冬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600200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600200"/>
            <a:ext cx="64008" cy="749808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172821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5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42432" y="17190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742432" y="20025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决策边界只能是直线，激活函数只负责拍板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551176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551176"/>
            <a:ext cx="64008" cy="749808"/>
          </a:xfrm>
          <a:prstGeom prst="rect">
            <a:avLst/>
          </a:prstGeom>
          <a:solidFill>
            <a:srgbClr val="3F51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26791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5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99032" y="2670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通俗比喻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399032" y="29535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房间隔断：直墙工匠 vs 空间建筑师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551176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551176"/>
            <a:ext cx="64008" cy="749808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26791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5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742432" y="2670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数学与对比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742432" y="29535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两层组合为何让边界弯曲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3502152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3502152"/>
            <a:ext cx="64008" cy="749808"/>
          </a:xfrm>
          <a:prstGeom prst="rect">
            <a:avLst/>
          </a:prstGeom>
          <a:solidFill>
            <a:srgbClr val="3F51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" y="36301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5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399032" y="36210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历史与启示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399032" y="39044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技术限制不等于理论限制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3502152"/>
            <a:ext cx="411480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502152"/>
            <a:ext cx="64008" cy="749808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47488" y="36301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5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742432" y="36210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结论要点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5742432" y="39044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先改造空间，再用直线划分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问题背景：一颗延迟引爆的炸弹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61718"/>
            <a:ext cx="7315200" cy="25603"/>
          </a:xfrm>
          <a:prstGeom prst="rect">
            <a:avLst/>
          </a:prstGeom>
          <a:solidFill>
            <a:srgbClr val="C0C0DA"/>
          </a:solidFill>
          <a:ln w="12700">
            <a:solidFill>
              <a:srgbClr val="C0C0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4984" y="1792224"/>
            <a:ext cx="164592" cy="164592"/>
          </a:xfrm>
          <a:prstGeom prst="ellipse">
            <a:avLst/>
          </a:prstGeom>
          <a:solidFill>
            <a:srgbClr val="3F51B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" y="1307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5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" y="213055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Rosenblatt 提出感知机，掀起连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接主义第一波热潮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92424" y="1792224"/>
            <a:ext cx="164592" cy="164592"/>
          </a:xfrm>
          <a:prstGeom prst="ellipse">
            <a:avLst/>
          </a:prstGeom>
          <a:solidFill>
            <a:srgbClr val="C628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307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23160" y="213055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Minsky &amp; Papert《感知机》证明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单层感知机无法解决 XOR 问题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78424" y="1792224"/>
            <a:ext cx="164592" cy="164592"/>
          </a:xfrm>
          <a:prstGeom prst="ellipse">
            <a:avLst/>
          </a:prstGeom>
          <a:solidFill>
            <a:srgbClr val="5C5C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307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1969–1986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213055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神经网络研究进入第一次寒冬，持续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17 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64424" y="1792224"/>
            <a:ext cx="164592" cy="164592"/>
          </a:xfrm>
          <a:prstGeom prst="ellipse">
            <a:avLst/>
          </a:prstGeom>
          <a:solidFill>
            <a:srgbClr val="5E35B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307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35B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213055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反向传播算法成熟，领域重新焕发生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977640"/>
            <a:ext cx="8138160" cy="868680"/>
          </a:xfrm>
          <a:prstGeom prst="roundRect">
            <a:avLst>
              <a:gd name="adj" fmla="val 7368"/>
            </a:avLst>
          </a:prstGeom>
          <a:solidFill>
            <a:srgbClr val="303F9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3977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本次汇报：</a:t>
            </a:r>
            <a:pPr indent="0" marL="0">
              <a:buNone/>
            </a:pPr>
            <a:r>
              <a:rPr lang="en-US" sz="135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深入单层感知机的局限，看多层神经网络如何突破这一限制。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THESIS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54480"/>
            <a:ext cx="8138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554480"/>
            <a:ext cx="91440" cy="1051560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554480"/>
            <a:ext cx="7635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单层感知机的本质限制在于：它的决策边界只能是直线或超平面。激活函数只在决策之后“拍板”，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并不参与边界形状的塑造。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549908" y="3081528"/>
            <a:ext cx="512064" cy="512064"/>
          </a:xfrm>
          <a:prstGeom prst="ellipse">
            <a:avLst/>
          </a:prstGeom>
          <a:solidFill>
            <a:srgbClr val="3F51B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49908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37216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边界即直线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" y="40690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 sigmoid、ReLU 还是阶跃，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决策边界始终是一条直线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68980" y="288036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15968" y="3081528"/>
            <a:ext cx="512064" cy="512064"/>
          </a:xfrm>
          <a:prstGeom prst="ellipse">
            <a:avLst/>
          </a:prstGeom>
          <a:solidFill>
            <a:srgbClr val="7C4D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15968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360420" y="37216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激活在末位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70148" y="40690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激活函数只判断 z 是否 ≥ 0，是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“拍板”而非“塑形”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2880360"/>
            <a:ext cx="260604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82028" y="3081528"/>
            <a:ext cx="512064" cy="512064"/>
          </a:xfrm>
          <a:prstGeom prst="ellipse">
            <a:avLst/>
          </a:prstGeom>
          <a:solidFill>
            <a:srgbClr val="303F9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2028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26480" y="37216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隐藏层破局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36208" y="406908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隐藏层在决策之前做非线性变换，</a:t>
            </a:r>
            <a:endParaRPr lang="en-US" sz="10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改写空间几何结构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XOR PROBLEM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用一个正方形房间来理解 XOR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554480"/>
            <a:ext cx="2697480" cy="269748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83334" y="1636776"/>
            <a:ext cx="10973" cy="2532888"/>
          </a:xfrm>
          <a:prstGeom prst="rect">
            <a:avLst/>
          </a:prstGeom>
          <a:solidFill>
            <a:srgbClr val="DCDCF0"/>
          </a:solidFill>
          <a:ln w="12700">
            <a:solidFill>
              <a:srgbClr val="DCD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" y="2897734"/>
            <a:ext cx="2532888" cy="10973"/>
          </a:xfrm>
          <a:prstGeom prst="rect">
            <a:avLst/>
          </a:prstGeom>
          <a:solidFill>
            <a:srgbClr val="DCDCF0"/>
          </a:solidFill>
          <a:ln w="12700">
            <a:solidFill>
              <a:srgbClr val="DC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2336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(0,0)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79192" y="12618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(1,1)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28700" y="1943100"/>
            <a:ext cx="301752" cy="301752"/>
          </a:xfrm>
          <a:prstGeom prst="ellipse">
            <a:avLst/>
          </a:prstGeom>
          <a:solidFill>
            <a:srgbClr val="C628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174650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 ·1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47188" y="3561588"/>
            <a:ext cx="301752" cy="301752"/>
          </a:xfrm>
          <a:prstGeom prst="ellipse">
            <a:avLst/>
          </a:prstGeom>
          <a:solidFill>
            <a:srgbClr val="C628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3822192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 ·1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28700" y="3561588"/>
            <a:ext cx="301752" cy="301752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369417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 ·0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47188" y="1943100"/>
            <a:ext cx="301752" cy="301752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2032" y="174650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 ·0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4897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任务：用一面墙，把红点与蓝点完全分开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60520" y="15727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XOR 真值表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920240"/>
          <a:ext cx="4434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24231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x₁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x₂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x₁ XOR x₂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65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4160520" y="4160520"/>
            <a:ext cx="4434840" cy="685800"/>
          </a:xfrm>
          <a:prstGeom prst="roundRect">
            <a:avLst>
              <a:gd name="adj" fmla="val 9333"/>
            </a:avLst>
          </a:prstGeom>
          <a:solidFill>
            <a:srgbClr val="EBEBF5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389120" y="41605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输入相异输出 1、相同输出 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两个类别交错分布，天生无法用一条直线分开。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 LAYER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单层感知机：只会砌直墙的工匠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572768"/>
            <a:ext cx="2670048" cy="2670048"/>
          </a:xfrm>
          <a:prstGeom prst="rect">
            <a:avLst/>
          </a:prstGeom>
          <a:solidFill>
            <a:srgbClr val="FFFFFF"/>
          </a:solidFill>
          <a:ln w="15875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69618" y="1655064"/>
            <a:ext cx="10973" cy="2505456"/>
          </a:xfrm>
          <a:prstGeom prst="rect">
            <a:avLst/>
          </a:prstGeom>
          <a:solidFill>
            <a:srgbClr val="DCDCF0"/>
          </a:solidFill>
          <a:ln w="12700">
            <a:solidFill>
              <a:srgbClr val="DCD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" y="2902306"/>
            <a:ext cx="2505456" cy="10973"/>
          </a:xfrm>
          <a:prstGeom prst="rect">
            <a:avLst/>
          </a:prstGeom>
          <a:solidFill>
            <a:srgbClr val="DCDCF0"/>
          </a:solidFill>
          <a:ln w="12700">
            <a:solidFill>
              <a:srgbClr val="DCD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62302" y="1709928"/>
            <a:ext cx="25603" cy="2395728"/>
          </a:xfrm>
          <a:prstGeom prst="rect">
            <a:avLst/>
          </a:prstGeom>
          <a:solidFill>
            <a:srgbClr val="5C5C7A"/>
          </a:solidFill>
          <a:ln w="12700">
            <a:solidFill>
              <a:srgbClr val="5C5C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894990"/>
            <a:ext cx="2395728" cy="25603"/>
          </a:xfrm>
          <a:prstGeom prst="rect">
            <a:avLst/>
          </a:prstGeom>
          <a:solidFill>
            <a:srgbClr val="5C5C7A"/>
          </a:solidFill>
          <a:ln w="12700">
            <a:solidFill>
              <a:srgbClr val="5C5C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1755648"/>
            <a:ext cx="2304288" cy="2304288"/>
          </a:xfrm>
          <a:prstGeom prst="line">
            <a:avLst/>
          </a:prstGeom>
          <a:noFill/>
          <a:ln w="27940">
            <a:solidFill>
              <a:srgbClr val="5C5C7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V="1">
            <a:off x="822960" y="1755648"/>
            <a:ext cx="2304288" cy="2304288"/>
          </a:xfrm>
          <a:prstGeom prst="line">
            <a:avLst/>
          </a:prstGeom>
          <a:noFill/>
          <a:ln w="27940">
            <a:solidFill>
              <a:srgbClr val="5C5C7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023214" y="1955902"/>
            <a:ext cx="301752" cy="301752"/>
          </a:xfrm>
          <a:prstGeom prst="ellipse">
            <a:avLst/>
          </a:prstGeom>
          <a:solidFill>
            <a:srgbClr val="C628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5242" y="3557930"/>
            <a:ext cx="301752" cy="301752"/>
          </a:xfrm>
          <a:prstGeom prst="ellipse">
            <a:avLst/>
          </a:prstGeom>
          <a:solidFill>
            <a:srgbClr val="C628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3214" y="3557930"/>
            <a:ext cx="301752" cy="301752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5242" y="1955902"/>
            <a:ext cx="301752" cy="301752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8056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竖墙 / 横墙 / 斜墙，任何角度都失败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60520" y="16276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总有一侧的同类点落在墙的同旁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60520" y="2148840"/>
            <a:ext cx="4434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25112" y="2304288"/>
            <a:ext cx="164592" cy="164592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1488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决策由线性函数 w·x + b 给出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60520" y="2715768"/>
            <a:ext cx="4434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25112" y="2871216"/>
            <a:ext cx="164592" cy="164592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71576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激活函数只在最后问一句“z ≥ 0 吗”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60520" y="3282696"/>
            <a:ext cx="4434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25112" y="3438144"/>
            <a:ext cx="164592" cy="164592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28269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它没有改变墙的形状 —— 墙永远是直的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60520" y="3849624"/>
            <a:ext cx="44348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25112" y="4005072"/>
            <a:ext cx="164592" cy="164592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84962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sigmoid / ReLU / 阶跃都救不了这条线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 LAYER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多层网络：会“空间魔法”的建筑师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813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思路反转：不在原始房间砌墙，而是先改造房间。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33856" y="2468880"/>
            <a:ext cx="1069848" cy="274320"/>
          </a:xfrm>
          <a:prstGeom prst="line">
            <a:avLst/>
          </a:prstGeom>
          <a:noFill/>
          <a:ln w="17780">
            <a:solidFill>
              <a:srgbClr val="C0C0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133856" y="2743200"/>
            <a:ext cx="1069848" cy="548640"/>
          </a:xfrm>
          <a:prstGeom prst="line">
            <a:avLst/>
          </a:prstGeom>
          <a:noFill/>
          <a:ln w="17780">
            <a:solidFill>
              <a:srgbClr val="C0C0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3856" y="2468880"/>
            <a:ext cx="1069848" cy="1097280"/>
          </a:xfrm>
          <a:prstGeom prst="line">
            <a:avLst/>
          </a:prstGeom>
          <a:noFill/>
          <a:ln w="17780">
            <a:solidFill>
              <a:srgbClr val="C0C0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3856" y="3291840"/>
            <a:ext cx="1069848" cy="274320"/>
          </a:xfrm>
          <a:prstGeom prst="line">
            <a:avLst/>
          </a:prstGeom>
          <a:noFill/>
          <a:ln w="17780">
            <a:solidFill>
              <a:srgbClr val="C0C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825496" y="2468880"/>
            <a:ext cx="1069848" cy="685800"/>
          </a:xfrm>
          <a:prstGeom prst="line">
            <a:avLst/>
          </a:prstGeom>
          <a:noFill/>
          <a:ln w="17780">
            <a:solidFill>
              <a:srgbClr val="C0C0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25496" y="3154680"/>
            <a:ext cx="1069848" cy="137160"/>
          </a:xfrm>
          <a:prstGeom prst="line">
            <a:avLst/>
          </a:prstGeom>
          <a:noFill/>
          <a:ln w="17780">
            <a:solidFill>
              <a:srgbClr val="C0C0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2432304"/>
            <a:ext cx="621792" cy="621792"/>
          </a:xfrm>
          <a:prstGeom prst="ellipse">
            <a:avLst/>
          </a:prstGeom>
          <a:solidFill>
            <a:srgbClr val="3F51B5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48716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" y="3255264"/>
            <a:ext cx="621792" cy="621792"/>
          </a:xfrm>
          <a:prstGeom prst="ellipse">
            <a:avLst/>
          </a:prstGeom>
          <a:solidFill>
            <a:srgbClr val="3F51B5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31012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67128" y="2121408"/>
            <a:ext cx="694944" cy="694944"/>
          </a:xfrm>
          <a:prstGeom prst="ellipse">
            <a:avLst/>
          </a:prstGeom>
          <a:solidFill>
            <a:srgbClr val="7C4DF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965960" y="221284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镜子 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67128" y="2944368"/>
            <a:ext cx="694944" cy="694944"/>
          </a:xfrm>
          <a:prstGeom prst="ellipse">
            <a:avLst/>
          </a:prstGeom>
          <a:solidFill>
            <a:srgbClr val="7C4DF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965960" y="303580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NAND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镜子 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95344" y="2843784"/>
            <a:ext cx="621792" cy="621792"/>
          </a:xfrm>
          <a:prstGeom prst="ellipse">
            <a:avLst/>
          </a:prstGeom>
          <a:solidFill>
            <a:srgbClr val="303F9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0" y="289864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133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57400" y="4133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49040" y="41330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874520"/>
            <a:ext cx="39776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874520"/>
            <a:ext cx="54864" cy="566928"/>
          </a:xfrm>
          <a:prstGeom prst="rect">
            <a:avLst/>
          </a:prstGeom>
          <a:solidFill>
            <a:srgbClr val="3F51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187452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每个隐藏神经元是一面“镜子” 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对房间做非线性变形，把点搬到一个新位置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2532888"/>
            <a:ext cx="39776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532888"/>
            <a:ext cx="54864" cy="566928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53288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神经元 1 模拟 OR 门 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把房间“压扁”，让某些区域先亮起来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3191256"/>
            <a:ext cx="39776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191256"/>
            <a:ext cx="54864" cy="566928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19125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神经元 2 模拟 NAND 门 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把房间“反转”，让另一些区域亮起来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63440" y="3849624"/>
            <a:ext cx="39776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849624"/>
            <a:ext cx="54864" cy="566928"/>
          </a:xfrm>
          <a:prstGeom prst="rect">
            <a:avLst/>
          </a:prstGeom>
          <a:solidFill>
            <a:srgbClr val="303F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84962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输出层只做一次 AND 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在变形后的新空间里，一条直墙就够用了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SPACE TRANSFORM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核心机制：先改造空间，再直线划分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91640"/>
            <a:ext cx="2468880" cy="246888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3314" y="1773936"/>
            <a:ext cx="10973" cy="2304288"/>
          </a:xfrm>
          <a:prstGeom prst="rect">
            <a:avLst/>
          </a:prstGeom>
          <a:solidFill>
            <a:srgbClr val="DCDCF0"/>
          </a:solidFill>
          <a:ln w="12700">
            <a:solidFill>
              <a:srgbClr val="DCD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2920594"/>
            <a:ext cx="2304288" cy="10973"/>
          </a:xfrm>
          <a:prstGeom prst="rect">
            <a:avLst/>
          </a:prstGeom>
          <a:solidFill>
            <a:srgbClr val="DCDCF0"/>
          </a:solidFill>
          <a:ln w="12700">
            <a:solidFill>
              <a:srgbClr val="DCD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7260" y="2034540"/>
            <a:ext cx="301752" cy="301752"/>
          </a:xfrm>
          <a:prstGeom prst="ellipse">
            <a:avLst/>
          </a:prstGeom>
          <a:solidFill>
            <a:srgbClr val="C628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18588" y="3515868"/>
            <a:ext cx="301752" cy="301752"/>
          </a:xfrm>
          <a:prstGeom prst="ellipse">
            <a:avLst/>
          </a:prstGeom>
          <a:solidFill>
            <a:srgbClr val="C628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260" y="3515868"/>
            <a:ext cx="301752" cy="301752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18588" y="2034540"/>
            <a:ext cx="301752" cy="301752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15998" y="1801368"/>
            <a:ext cx="25603" cy="224942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1856232"/>
            <a:ext cx="2139696" cy="2139696"/>
          </a:xfrm>
          <a:prstGeom prst="line">
            <a:avLst/>
          </a:prstGeom>
          <a:noFill/>
          <a:ln w="27940">
            <a:solidFill>
              <a:srgbClr val="C6282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94360" y="13807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原始空间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270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直线不可分 ✗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2724912"/>
            <a:ext cx="868680" cy="402336"/>
          </a:xfrm>
          <a:prstGeom prst="rightArrow">
            <a:avLst/>
          </a:prstGeom>
          <a:solidFill>
            <a:srgbClr val="7C4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21488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隐藏层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非线性变换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43400" y="1691640"/>
            <a:ext cx="2468880" cy="2468880"/>
          </a:xfrm>
          <a:prstGeom prst="rect">
            <a:avLst/>
          </a:prstGeom>
          <a:solidFill>
            <a:srgbClr val="FFFFFF"/>
          </a:solidFill>
          <a:ln w="15875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72354" y="1773936"/>
            <a:ext cx="10973" cy="2304288"/>
          </a:xfrm>
          <a:prstGeom prst="rect">
            <a:avLst/>
          </a:prstGeom>
          <a:solidFill>
            <a:srgbClr val="DCDCF0"/>
          </a:solidFill>
          <a:ln w="12700">
            <a:solidFill>
              <a:srgbClr val="DCD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25696" y="2920594"/>
            <a:ext cx="2304288" cy="10973"/>
          </a:xfrm>
          <a:prstGeom prst="rect">
            <a:avLst/>
          </a:prstGeom>
          <a:solidFill>
            <a:srgbClr val="DCDCF0"/>
          </a:solidFill>
          <a:ln w="12700">
            <a:solidFill>
              <a:srgbClr val="DCD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6572" y="1924812"/>
            <a:ext cx="301752" cy="301752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7356" y="3625596"/>
            <a:ext cx="301752" cy="301752"/>
          </a:xfrm>
          <a:prstGeom prst="ellipse">
            <a:avLst/>
          </a:prstGeom>
          <a:solidFill>
            <a:srgbClr val="1565C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77356" y="1924812"/>
            <a:ext cx="301752" cy="301752"/>
          </a:xfrm>
          <a:prstGeom prst="ellipse">
            <a:avLst/>
          </a:prstGeom>
          <a:solidFill>
            <a:srgbClr val="C628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73262" y="2128906"/>
            <a:ext cx="301752" cy="301752"/>
          </a:xfrm>
          <a:prstGeom prst="ellipse">
            <a:avLst/>
          </a:prstGeom>
          <a:solidFill>
            <a:srgbClr val="C628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441777" y="2075688"/>
            <a:ext cx="986455" cy="986455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13807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特征空间 (OR, NAND)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43400" y="4270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一条直线即可分开 ✓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315200" y="1828800"/>
            <a:ext cx="1371600" cy="2194560"/>
          </a:xfrm>
          <a:prstGeom prst="roundRect">
            <a:avLst>
              <a:gd name="adj" fmla="val 4667"/>
            </a:avLst>
          </a:prstGeom>
          <a:solidFill>
            <a:srgbClr val="303F9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24928" y="1965960"/>
            <a:ext cx="115214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同一条“直线”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在原始空间做不到，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在变换后的空间轻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松做到。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MATH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用数学语言看这条边界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72768"/>
            <a:ext cx="813816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572768"/>
            <a:ext cx="91440" cy="1207008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700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单层感知机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199339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w₁x₁ + w₂x₂ + b = 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852160" y="18745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决策边界恒为一条直线；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换任何激活函数都不会改变它。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999232"/>
            <a:ext cx="813816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999232"/>
            <a:ext cx="91440" cy="1664208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多层神经网络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3456432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隐藏层变换   </a:t>
            </a:r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σ(W₁x + b₁)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输出层划分   </a:t>
            </a:r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303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σ(W₂·σ(W₁x + b₁) + b₂)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331012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非线性 ⇒ 复合函数非线性 ⇒ 边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界可为曲线、曲面、任意复杂形状。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COMPARISON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 vs 多层：五维对比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3F9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单层感知机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多层神经网络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决策边界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只能是直线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可以是曲线 / 曲面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激活函数作用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只在最后“拍板”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参与空间变换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能否解 XOR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628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核心限制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628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只能线性划分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需要有效的训练算法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解决方案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C6282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 —— 这是理论限制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E7D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增加隐藏层 + 反向传播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B3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HISTORICAL IMPACT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一颗“炸弹”与十七年寒冬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916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2121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91640"/>
            <a:ext cx="2606040" cy="54864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4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22376" y="2560320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深远冲击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" y="2926080"/>
            <a:ext cx="216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1969 年的否定性结论像一颗炸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弹，让大量研究者放弃神经网络，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转而投向其他方向。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8980" y="16916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2121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8980" y="1691640"/>
            <a:ext cx="2606040" cy="54864"/>
          </a:xfrm>
          <a:prstGeom prst="rect">
            <a:avLst/>
          </a:prstGeom>
          <a:solidFill>
            <a:srgbClr val="3F51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0148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5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488436" y="2560320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讽刺之处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88436" y="2926080"/>
            <a:ext cx="216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解决方案其实早已存在 —— 多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层网络概念并不新颖，只是当时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无人能有效训练它。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69164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2121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691640"/>
            <a:ext cx="2606040" cy="54864"/>
          </a:xfrm>
          <a:prstGeom prst="rect">
            <a:avLst/>
          </a:prstGeom>
          <a:solidFill>
            <a:srgbClr val="B388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254496" y="2560320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三重枷锁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54496" y="2926080"/>
            <a:ext cx="216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缺乏有效训练算法 + 计算机算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力不足 + 权威结论压制，让希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望被延后了十七年。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三点深刻启示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916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1883664"/>
            <a:ext cx="457200" cy="457200"/>
          </a:xfrm>
          <a:prstGeom prst="ellipse">
            <a:avLst/>
          </a:prstGeom>
          <a:solidFill>
            <a:srgbClr val="3F51B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1819656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技术限制 ≠ 理论限制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14884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解不了往往只是“当时做不到”，问题本身也许早有出路。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679192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2871216"/>
            <a:ext cx="457200" cy="457200"/>
          </a:xfrm>
          <a:prstGeom prst="ellipse">
            <a:avLst/>
          </a:prstGeom>
          <a:solidFill>
            <a:srgbClr val="7C4D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2807208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算法至关重要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3136392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没有有效的训练算法，再漂亮的理论突破也落不了地。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666744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858768"/>
            <a:ext cx="457200" cy="457200"/>
          </a:xfrm>
          <a:prstGeom prst="ellipse">
            <a:avLst/>
          </a:prstGeom>
          <a:solidFill>
            <a:srgbClr val="303F9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17320" y="379476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警惕权威叙事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412394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Minsky 的权威影响了整个领域 —— 保持独立思考，别被定论劝退。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54480"/>
            <a:ext cx="39776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554480"/>
            <a:ext cx="397764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单层感知机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1488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本质限制在于决策边界永远是直线；激活函数不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参与空间变换，无法解决非线性问题。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39776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554480"/>
            <a:ext cx="397764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多层神经网络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1488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突破在于隐藏层做非线性空间变换，把非线性问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题转化为线性问题，在新空间中用直线即可解决。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950208"/>
            <a:ext cx="8138160" cy="868680"/>
          </a:xfrm>
          <a:prstGeom prst="roundRect">
            <a:avLst>
              <a:gd name="adj" fmla="val 7368"/>
            </a:avLst>
          </a:prstGeom>
          <a:solidFill>
            <a:srgbClr val="303F9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95020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一句话思想：</a:t>
            </a:r>
            <a:pPr indent="0" marL="0">
              <a:buNone/>
            </a:pPr>
            <a:r>
              <a:rPr lang="en-US" sz="145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先改造空间，再在新空间中用直线划分。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"/>
            <a:ext cx="9144000" cy="20117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11496"/>
            <a:ext cx="9144000" cy="32004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420624"/>
            <a:ext cx="146304" cy="146304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0" kern="0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TAKEAWAYS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四个要点，一图带走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868680" cy="411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280160"/>
            <a:ext cx="274320" cy="41148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72768"/>
            <a:ext cx="39776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572768"/>
            <a:ext cx="82296" cy="1463040"/>
          </a:xfrm>
          <a:prstGeom prst="rect">
            <a:avLst/>
          </a:prstGeom>
          <a:solidFill>
            <a:srgbClr val="3F51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8952" y="212140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线性可分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8952" y="2468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单层只能线性划分，边界是直线，解不了 XOR。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572768"/>
            <a:ext cx="39776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572768"/>
            <a:ext cx="82296" cy="1463040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19472" y="212140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隐藏层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919472" y="2468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多层网络靠隐藏层做非线性变换，突破限制。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218688"/>
            <a:ext cx="39776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218688"/>
            <a:ext cx="82296" cy="1463040"/>
          </a:xfrm>
          <a:prstGeom prst="rect">
            <a:avLst/>
          </a:prstGeom>
          <a:solidFill>
            <a:srgbClr val="303F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8952" y="37673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改空间思想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58952" y="4114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核心是先把空间改写，再用一条直线划分。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218688"/>
            <a:ext cx="39776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C0C0DA"/>
            </a:solidFill>
            <a:prstDash val="solid"/>
          </a:ln>
          <a:effectLst>
            <a:outerShdw sx="100000" sy="100000" kx="0" ky="0" algn="bl" rotWithShape="0" blurRad="50800" dist="12700" dir="5400000">
              <a:srgbClr val="1A1A2E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218688"/>
            <a:ext cx="82296" cy="1463040"/>
          </a:xfrm>
          <a:prstGeom prst="rect">
            <a:avLst/>
          </a:prstGeom>
          <a:solidFill>
            <a:srgbClr val="B388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3F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19472" y="376732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历史教训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919472" y="4114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技术限制 ≠ 理论限制，解法也许早已存在。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2560320"/>
            <a:ext cx="5029200" cy="5029200"/>
          </a:xfrm>
          <a:prstGeom prst="ellipse">
            <a:avLst/>
          </a:prstGeom>
          <a:solidFill>
            <a:srgbClr val="3F51B5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3F51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9144000" cy="25603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3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572768"/>
            <a:ext cx="1005840" cy="45720"/>
          </a:xfrm>
          <a:prstGeom prst="rect">
            <a:avLst/>
          </a:prstGeom>
          <a:solidFill>
            <a:srgbClr val="7C4D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83080"/>
            <a:ext cx="7818120" cy="713232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8308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81328" y="1783080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Minsky, M. &amp; Papert, S. (1969)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《Perceptrons: An Introduction to Computational Geometry》 感知机：计算几何导论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2624328"/>
            <a:ext cx="7818120" cy="713232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2432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81328" y="2624328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Rumelhart, Hinton &amp; Williams (1986)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《Learning Representations by Back-propagating Errors》 Nature 23 (5191)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465576"/>
            <a:ext cx="7818120" cy="713232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6557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8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81328" y="3465576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Goodfellow, Bengio &amp; Courville (2016)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0D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《Deep Learning》 深度学习，MIT Press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" y="431596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0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技术限制不等于理论限制 —— 谢谢。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8326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感知机问题 · 线性不可分的真相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955280" y="48326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9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感知机问题深度解析</dc:title>
  <dc:subject>PptxGenJS Presentation</dc:subject>
  <dc:creator>themed-cn-pptx</dc:creator>
  <cp:lastModifiedBy>themed-cn-pptx</cp:lastModifiedBy>
  <cp:revision>1</cp:revision>
  <dcterms:created xsi:type="dcterms:W3CDTF">2026-09-29T02:59:28Z</dcterms:created>
  <dcterms:modified xsi:type="dcterms:W3CDTF">2026-09-29T02:59:28Z</dcterms:modified>
</cp:coreProperties>
</file>