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2103120"/>
            <a:ext cx="5943600" cy="5943600"/>
          </a:xfrm>
          <a:prstGeom prst="ellipse">
            <a:avLst/>
          </a:prstGeom>
          <a:solidFill>
            <a:srgbClr val="89B4FA">
              <a:alpha val="18000"/>
            </a:srgbClr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377440"/>
            <a:ext cx="4206240" cy="4206240"/>
          </a:xfrm>
          <a:prstGeom prst="ellipse">
            <a:avLst/>
          </a:prstGeom>
          <a:solidFill>
            <a:srgbClr val="F5C2E7">
              <a:alpha val="14000"/>
            </a:srgbClr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"/>
            <a:ext cx="9144000" cy="25603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9611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2A2A3C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· 经典议题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线性不可分的真相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76656" y="3310128"/>
            <a:ext cx="1920240" cy="6400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5295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从单层感知机为何解不了 XOR，到隐藏层如何改写空间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&amp; Papert (1969)  ·  神经网络的第一次寒冬与复兴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汇报脉络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749808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728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9032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99032" y="2002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 年的否定性结论与第一次寒冬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600200"/>
            <a:ext cx="64008" cy="74980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728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42432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742432" y="2002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决策边界只能是直线，激活函数只负责拍板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551176"/>
            <a:ext cx="64008" cy="749808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9032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通俗比喻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99032" y="2953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房间隔断：直墙工匠 vs 空间建筑师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5511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51176"/>
            <a:ext cx="64008" cy="74980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42432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数学与对比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742432" y="2953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两层组合为何让边界弯曲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5021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502152"/>
            <a:ext cx="64008" cy="749808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630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9903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历史与启示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399032" y="3904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技术限制不等于理论限制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5021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502152"/>
            <a:ext cx="64008" cy="74980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3630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4243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结论要点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742432" y="3904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先改造空间，再用直线划分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问题背景：一颗延迟引爆的炸弹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61718"/>
            <a:ext cx="7315200" cy="25603"/>
          </a:xfrm>
          <a:prstGeom prst="rect">
            <a:avLst/>
          </a:prstGeom>
          <a:solidFill>
            <a:srgbClr val="45475A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1792224"/>
            <a:ext cx="164592" cy="16459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Rosenblatt 提出感知机，掀起连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接主义第一波热潮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92424" y="1792224"/>
            <a:ext cx="164592" cy="16459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&amp; Papert《感知机》证明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单层感知机无法解决 XOR 问题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78424" y="1792224"/>
            <a:ext cx="164592" cy="164592"/>
          </a:xfrm>
          <a:prstGeom prst="ellipse">
            <a:avLst/>
          </a:prstGeom>
          <a:solidFill>
            <a:srgbClr val="8C92AE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1969–1986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神经网络研究进入第一次寒冬，持续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17 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64424" y="1792224"/>
            <a:ext cx="164592" cy="164592"/>
          </a:xfrm>
          <a:prstGeom prst="ellipse">
            <a:avLst/>
          </a:prstGeom>
          <a:solidFill>
            <a:srgbClr val="F5C2E7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2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反向传播算法成熟，领域重新焕发生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252536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977640"/>
            <a:ext cx="82296" cy="868680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77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本次汇报：</a:t>
            </a:r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深入单层感知机的局限，看多层神经网络如何突破这一限制。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THESIS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54480"/>
            <a:ext cx="91440" cy="1051560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54480"/>
            <a:ext cx="7635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单层感知机的本质限制在于：它的决策边界只能是直线或超平面。激活函数只在决策之后“拍板”，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并不参与边界形状的塑造。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9908" y="3081528"/>
            <a:ext cx="512064" cy="512064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990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边界即直线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 sigmoid、ReLU 还是阶跃，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决策边界始终是一条直线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898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5968" y="3081528"/>
            <a:ext cx="512064" cy="512064"/>
          </a:xfrm>
          <a:prstGeom prst="ellipse">
            <a:avLst/>
          </a:prstGeom>
          <a:solidFill>
            <a:srgbClr val="F5C2E7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6042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激活在末位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014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激活函数只判断 z 是否 ≥ 0，是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“拍板”而非“塑形”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2028" y="3081528"/>
            <a:ext cx="512064" cy="512064"/>
          </a:xfrm>
          <a:prstGeom prst="ellipse">
            <a:avLst/>
          </a:prstGeom>
          <a:solidFill>
            <a:srgbClr val="CBA6F7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202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隐藏层破局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620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隐藏层在决策之前做非线性变换，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改写空间几何结构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XOR 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用一个正方形房间来理解 XOR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54480"/>
            <a:ext cx="2697480" cy="2697480"/>
          </a:xfrm>
          <a:prstGeom prst="rect">
            <a:avLst/>
          </a:prstGeom>
          <a:solidFill>
            <a:srgbClr val="2A2A3C"/>
          </a:solidFill>
          <a:ln w="15875">
            <a:solidFill>
              <a:srgbClr val="45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3334" y="1636776"/>
            <a:ext cx="10973" cy="2532888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897734"/>
            <a:ext cx="2532888" cy="10973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233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9192" y="12618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2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8700" y="1943100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17465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47188" y="3561588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38221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28700" y="3561588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6941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47188" y="1943100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17465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489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任务：用一面墙，把红点与蓝点完全分开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0520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 真值表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920240"/>
          <a:ext cx="4434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2423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1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1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x₂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1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 XOR x₂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B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9B4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8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8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9B4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160520" y="4160520"/>
            <a:ext cx="4434840" cy="685800"/>
          </a:xfrm>
          <a:prstGeom prst="roundRect">
            <a:avLst>
              <a:gd name="adj" fmla="val 9333"/>
            </a:avLst>
          </a:prstGeom>
          <a:solidFill>
            <a:srgbClr val="252536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38912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输入相异输出 1、相同输出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两个类别交错分布，天生无法用一条直线分开。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单层感知机：只会砌直墙的工匠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72768"/>
            <a:ext cx="2670048" cy="2670048"/>
          </a:xfrm>
          <a:prstGeom prst="rect">
            <a:avLst/>
          </a:prstGeom>
          <a:solidFill>
            <a:srgbClr val="2A2A3C"/>
          </a:solidFill>
          <a:ln w="15875">
            <a:solidFill>
              <a:srgbClr val="45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9618" y="1655064"/>
            <a:ext cx="10973" cy="2505456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902306"/>
            <a:ext cx="2505456" cy="10973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2302" y="1709928"/>
            <a:ext cx="25603" cy="2395728"/>
          </a:xfrm>
          <a:prstGeom prst="rect">
            <a:avLst/>
          </a:prstGeom>
          <a:solidFill>
            <a:srgbClr val="8C92AE"/>
          </a:solidFill>
          <a:ln w="12700">
            <a:solidFill>
              <a:srgbClr val="8C92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94990"/>
            <a:ext cx="2395728" cy="25603"/>
          </a:xfrm>
          <a:prstGeom prst="rect">
            <a:avLst/>
          </a:prstGeom>
          <a:solidFill>
            <a:srgbClr val="8C92AE"/>
          </a:solidFill>
          <a:ln w="12700">
            <a:solidFill>
              <a:srgbClr val="8C92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755648"/>
            <a:ext cx="2304288" cy="2304288"/>
          </a:xfrm>
          <a:prstGeom prst="line">
            <a:avLst/>
          </a:prstGeom>
          <a:noFill/>
          <a:ln w="27940">
            <a:solidFill>
              <a:srgbClr val="8C92A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822960" y="1755648"/>
            <a:ext cx="2304288" cy="2304288"/>
          </a:xfrm>
          <a:prstGeom prst="line">
            <a:avLst/>
          </a:prstGeom>
          <a:noFill/>
          <a:ln w="27940">
            <a:solidFill>
              <a:srgbClr val="8C92A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23214" y="1955902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5242" y="3557930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4" y="3557930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5242" y="1955902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竖墙 / 横墙 / 斜墙，任何角度都失败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1627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总有一侧的同类点落在墙的同旁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60520" y="2148840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2304288"/>
            <a:ext cx="164592" cy="164592"/>
          </a:xfrm>
          <a:prstGeom prst="ellipse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148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决策由线性函数 w·x + b 给出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2715768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25112" y="2871216"/>
            <a:ext cx="164592" cy="164592"/>
          </a:xfrm>
          <a:prstGeom prst="ellipse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7157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激活函数只在最后问一句“z ≥ 0 吗”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3282696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25112" y="3438144"/>
            <a:ext cx="164592" cy="164592"/>
          </a:xfrm>
          <a:prstGeom prst="ellipse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2826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它没有改变墙的形状 —— 墙永远是直的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60520" y="3849624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25112" y="4005072"/>
            <a:ext cx="164592" cy="164592"/>
          </a:xfrm>
          <a:prstGeom prst="ellipse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8496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sigmoid / ReLU / 阶跃都救不了这条线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多层网络：会“空间魔法”的建筑师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思路反转：不在原始房间砌墙，而是先改造房间。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33856" y="2468880"/>
            <a:ext cx="1069848" cy="27432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133856" y="2743200"/>
            <a:ext cx="1069848" cy="54864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2468880"/>
            <a:ext cx="1069848" cy="109728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291840"/>
            <a:ext cx="1069848" cy="27432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825496" y="2468880"/>
            <a:ext cx="1069848" cy="68580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5496" y="3154680"/>
            <a:ext cx="1069848" cy="137160"/>
          </a:xfrm>
          <a:prstGeom prst="line">
            <a:avLst/>
          </a:prstGeom>
          <a:noFill/>
          <a:ln w="17780">
            <a:solidFill>
              <a:srgbClr val="4547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432304"/>
            <a:ext cx="621792" cy="62179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48716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" y="3255264"/>
            <a:ext cx="621792" cy="62179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3101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67128" y="2121408"/>
            <a:ext cx="694944" cy="694944"/>
          </a:xfrm>
          <a:prstGeom prst="ellipse">
            <a:avLst/>
          </a:prstGeom>
          <a:solidFill>
            <a:srgbClr val="CBA6F7"/>
          </a:solidFill>
          <a:ln w="25400">
            <a:solidFill>
              <a:srgbClr val="1E1E2E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65960" y="22128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67128" y="2944368"/>
            <a:ext cx="694944" cy="694944"/>
          </a:xfrm>
          <a:prstGeom prst="ellipse">
            <a:avLst/>
          </a:prstGeom>
          <a:solidFill>
            <a:srgbClr val="CBA6F7"/>
          </a:solidFill>
          <a:ln w="25400">
            <a:solidFill>
              <a:srgbClr val="1E1E2E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30358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95344" y="2843784"/>
            <a:ext cx="621792" cy="621792"/>
          </a:xfrm>
          <a:prstGeom prst="ellipse">
            <a:avLst/>
          </a:prstGeom>
          <a:solidFill>
            <a:srgbClr val="74C7EC"/>
          </a:solidFill>
          <a:ln w="25400">
            <a:solidFill>
              <a:srgbClr val="1E1E2E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28986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5740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74520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74520"/>
            <a:ext cx="54864" cy="566928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8745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每个隐藏神经元是一面“镜子”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对房间做非线性变形，把点搬到一个新位置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532888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532888"/>
            <a:ext cx="54864" cy="56692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5328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 1 模拟 OR 门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把房间“压扁”，让某些区域先亮起来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191256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91256"/>
            <a:ext cx="54864" cy="566928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1912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 2 模拟 NAND 门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把房间“反转”，让另一些区域亮起来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849624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849624"/>
            <a:ext cx="54864" cy="566928"/>
          </a:xfrm>
          <a:prstGeom prst="rect">
            <a:avLst/>
          </a:prstGeom>
          <a:solidFill>
            <a:srgbClr val="CBA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84962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输出层只做一次 AND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在变形后的新空间里，一条直墙就够用了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 TRANSFORM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核心机制：先改造空间，再直线划分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2468880" cy="2468880"/>
          </a:xfrm>
          <a:prstGeom prst="rect">
            <a:avLst/>
          </a:prstGeom>
          <a:solidFill>
            <a:srgbClr val="2A2A3C"/>
          </a:solidFill>
          <a:ln w="15875">
            <a:solidFill>
              <a:srgbClr val="45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3314" y="1773936"/>
            <a:ext cx="10973" cy="2304288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920594"/>
            <a:ext cx="2304288" cy="10973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" y="2034540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8588" y="3515868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" y="3515868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8588" y="2034540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5998" y="1801368"/>
            <a:ext cx="25603" cy="2249424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1856232"/>
            <a:ext cx="2139696" cy="2139696"/>
          </a:xfrm>
          <a:prstGeom prst="line">
            <a:avLst/>
          </a:prstGeom>
          <a:noFill/>
          <a:ln w="27940">
            <a:solidFill>
              <a:srgbClr val="F38BA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13807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原始空间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直线不可分 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724912"/>
            <a:ext cx="868680" cy="402336"/>
          </a:xfrm>
          <a:prstGeom prst="rightArrow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1691640"/>
            <a:ext cx="2468880" cy="2468880"/>
          </a:xfrm>
          <a:prstGeom prst="rect">
            <a:avLst/>
          </a:prstGeom>
          <a:solidFill>
            <a:srgbClr val="2A2A3C"/>
          </a:solidFill>
          <a:ln w="15875">
            <a:solidFill>
              <a:srgbClr val="4547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2354" y="1773936"/>
            <a:ext cx="10973" cy="2304288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2920594"/>
            <a:ext cx="2304288" cy="10973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6572" y="1924812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7356" y="3625596"/>
            <a:ext cx="301752" cy="301752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7356" y="1924812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3262" y="2128906"/>
            <a:ext cx="301752" cy="301752"/>
          </a:xfrm>
          <a:prstGeom prst="ellipse">
            <a:avLst/>
          </a:prstGeom>
          <a:solidFill>
            <a:srgbClr val="F38BA8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441777" y="2075688"/>
            <a:ext cx="986455" cy="986455"/>
          </a:xfrm>
          <a:prstGeom prst="line">
            <a:avLst/>
          </a:prstGeom>
          <a:noFill/>
          <a:ln w="27940">
            <a:solidFill>
              <a:srgbClr val="A6E3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3807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特征空间 (OR, NAND)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E3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一条直线即可分开 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0" y="1828800"/>
            <a:ext cx="1371600" cy="2194560"/>
          </a:xfrm>
          <a:prstGeom prst="roundRect">
            <a:avLst>
              <a:gd name="adj" fmla="val 4667"/>
            </a:avLst>
          </a:prstGeom>
          <a:solidFill>
            <a:srgbClr val="252536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4928" y="1965960"/>
            <a:ext cx="11521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同一条“直线”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在原始空间做不到，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在变换后的空间轻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松做到。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用数学语言看这条边界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8138160" cy="1207008"/>
          </a:xfrm>
          <a:prstGeom prst="roundRect">
            <a:avLst>
              <a:gd name="adj" fmla="val 5303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72768"/>
            <a:ext cx="91440" cy="1207008"/>
          </a:xfrm>
          <a:prstGeom prst="rect">
            <a:avLst/>
          </a:prstGeom>
          <a:solidFill>
            <a:srgbClr val="F38B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8B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19933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w₁x₁ + w₂x₂ + b = 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决策边界恒为一条直线；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换任何激活函数都不会改变它。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8138160" cy="1664208"/>
          </a:xfrm>
          <a:prstGeom prst="roundRect">
            <a:avLst>
              <a:gd name="adj" fmla="val 3846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99232"/>
            <a:ext cx="91440" cy="1664208"/>
          </a:xfrm>
          <a:prstGeom prst="rect">
            <a:avLst/>
          </a:prstGeom>
          <a:solidFill>
            <a:srgbClr val="A6E3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多层神经网络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隐藏层变换  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σ(W₁x + b₁)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输出层划分  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σ(W₂·σ(W₁x + b₁) + b₂)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33101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非线性 ⇒ 复合函数非线性 ⇒ 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界可为曲线、曲面、任意复杂形状。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 vs 多层：五维对比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1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单层感知机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多层神经网络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决策边界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DD6F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只能是直线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E3A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可以是曲线 / 曲面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激活函数作用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DD6F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只在最后“拍板”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E3A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参与空间变换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能否解 XOR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38B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E3A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38B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只能线性划分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DD6F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需要有效的训练算法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38BA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—— 这是理论限制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6E3A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增加隐藏层 + 反向传播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HISTORICAL IMPACT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一颗“炸弹”与十七年寒冬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91640"/>
            <a:ext cx="2606040" cy="54864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2237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深远冲击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 年的否定性结论像一颗炸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弹，让大量研究者放弃神经网络，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转而投向其他方向。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898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8980" y="1691640"/>
            <a:ext cx="2606040" cy="54864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014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2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8843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讽刺之处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8843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解决方案其实早已存在 —— 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层网络概念并不新颖，只是当时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无人能有效训练它。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691640"/>
            <a:ext cx="2606040" cy="54864"/>
          </a:xfrm>
          <a:prstGeom prst="rect">
            <a:avLst/>
          </a:prstGeom>
          <a:solidFill>
            <a:srgbClr val="CBA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A6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5449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三重枷锁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5449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缺乏有效训练算法 + 计算机算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力不足 + 权威结论压制，让希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望被延后了十七年。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三点深刻启示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916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89B4FA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181965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 ≠ 理论限制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1488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解不了往往只是“当时做不到”，问题本身也许早有出路。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79192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871216"/>
            <a:ext cx="457200" cy="457200"/>
          </a:xfrm>
          <a:prstGeom prst="ellipse">
            <a:avLst/>
          </a:prstGeom>
          <a:solidFill>
            <a:srgbClr val="F5C2E7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280720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算法至关重要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13639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没有有效的训练算法，再漂亮的理论突破也落不了地。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CBA6F7"/>
          </a:solidFill>
          <a:ln w="25400">
            <a:solidFill>
              <a:srgbClr val="1E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379476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警惕权威叙事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1239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的权威影响了整个领域 —— 保持独立思考，别被定论劝退。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54480"/>
            <a:ext cx="3977640" cy="457200"/>
          </a:xfrm>
          <a:prstGeom prst="rect">
            <a:avLst/>
          </a:prstGeom>
          <a:solidFill>
            <a:srgbClr val="F38B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本质限制在于决策边界永远是直线；激活函数不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参与空间变换，无法解决非线性问题。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54480"/>
            <a:ext cx="3977640" cy="457200"/>
          </a:xfrm>
          <a:prstGeom prst="rect">
            <a:avLst/>
          </a:prstGeom>
          <a:solidFill>
            <a:srgbClr val="A6E3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多层神经网络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突破在于隐藏层做非线性空间变换，把非线性问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题转化为线性问题，在新空间中用直线即可解决。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950208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252536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950208"/>
            <a:ext cx="82296" cy="868680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5020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一句话思想：</a:t>
            </a:r>
            <a:pPr indent="0" marL="0">
              <a:buNone/>
            </a:pPr>
            <a:r>
              <a:rPr lang="en-US" sz="1450" dirty="0">
                <a:solidFill>
                  <a:srgbClr val="CDD6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先改造空间，再在新空间中用直线划分。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四个要点，一图带走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F5C2E7"/>
          </a:solidFill>
          <a:ln w="12700">
            <a:solidFill>
              <a:srgbClr val="F5C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72768"/>
            <a:ext cx="82296" cy="1463040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" y="21214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线性可分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8952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单层只能线性划分，边界是直线，解不了 XOR。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572768"/>
            <a:ext cx="82296" cy="1463040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2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21214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9472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多层网络靠隐藏层做非线性变换，突破限制。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218688"/>
            <a:ext cx="82296" cy="1463040"/>
          </a:xfrm>
          <a:prstGeom prst="rect">
            <a:avLst/>
          </a:prstGeom>
          <a:solidFill>
            <a:srgbClr val="74C7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4C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改空间思想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8952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核心是先把空间改写，再用一条直线划分。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1868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2A2A3C"/>
          </a:solidFill>
          <a:ln w="12700">
            <a:solidFill>
              <a:srgbClr val="45475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18688"/>
            <a:ext cx="82296" cy="1463040"/>
          </a:xfrm>
          <a:prstGeom prst="rect">
            <a:avLst/>
          </a:prstGeom>
          <a:solidFill>
            <a:srgbClr val="CBA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A6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19472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历史教训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919472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 ≠ 理论限制，解法也许早已存在。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560320"/>
            <a:ext cx="5029200" cy="5029200"/>
          </a:xfrm>
          <a:prstGeom prst="ellipse">
            <a:avLst/>
          </a:prstGeom>
          <a:solidFill>
            <a:srgbClr val="89B4FA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9B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9144000" cy="25603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1005840" cy="45720"/>
          </a:xfrm>
          <a:prstGeom prst="rect">
            <a:avLst/>
          </a:prstGeom>
          <a:solidFill>
            <a:srgbClr val="F5C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2A2A3C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1328" y="17830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Minsky, M. &amp; Papert, S. (1969)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《Perceptrons: An Introduction to Computational Geometry》 感知机：计算几何导论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624328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2A2A3C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243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62432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Rumelhart, Hinton &amp; Williams (1986)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《Learning Representations by Back-propagating Errors》 Nature 23 (5191)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465576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2A2A3C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655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3465576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Goodfellow, Bengio &amp; Courville (2016)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《Deep Learning》 深度学习，MIT Press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43159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技术限制不等于理论限制 —— 谢谢。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感知机问题深度解析</dc:title>
  <dc:subject>PptxGenJS Presentation</dc:subject>
  <dc:creator>themed-cn-pptx</dc:creator>
  <cp:lastModifiedBy>themed-cn-pptx</cp:lastModifiedBy>
  <cp:revision>1</cp:revision>
  <dcterms:created xsi:type="dcterms:W3CDTF">2026-09-29T03:05:48Z</dcterms:created>
  <dcterms:modified xsi:type="dcterms:W3CDTF">2026-09-29T03:05:48Z</dcterms:modified>
</cp:coreProperties>
</file>